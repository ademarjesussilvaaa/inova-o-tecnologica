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Anton" charset="1" panose="00000500000000000000"/>
      <p:regular r:id="rId11"/>
    </p:embeddedFont>
    <p:embeddedFont>
      <p:font typeface="True Typewriter" charset="1" panose="02060704040205020404"/>
      <p:regular r:id="rId12"/>
    </p:embeddedFont>
    <p:embeddedFont>
      <p:font typeface="Courier Prime" charset="1" panose="00000509000000000000"/>
      <p:regular r:id="rId13"/>
    </p:embeddedFont>
    <p:embeddedFont>
      <p:font typeface="Lumios Typewriter New" charset="1" panose="00000500000000000000"/>
      <p:regular r:id="rId14"/>
    </p:embeddedFont>
    <p:embeddedFont>
      <p:font typeface="Inter" charset="1" panose="020B0502030000000004"/>
      <p:regular r:id="rId15"/>
    </p:embeddedFont>
    <p:embeddedFont>
      <p:font typeface="Inter Medium" charset="1" panose="02000503000000020004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Relationship Id="rId3" Target="../media/image8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288728" y="4107895"/>
            <a:ext cx="5451344" cy="6924340"/>
          </a:xfrm>
          <a:custGeom>
            <a:avLst/>
            <a:gdLst/>
            <a:ahLst/>
            <a:cxnLst/>
            <a:rect r="r" b="b" t="t" l="l"/>
            <a:pathLst>
              <a:path h="6924340" w="5451344">
                <a:moveTo>
                  <a:pt x="0" y="0"/>
                </a:moveTo>
                <a:lnTo>
                  <a:pt x="5451344" y="0"/>
                </a:lnTo>
                <a:lnTo>
                  <a:pt x="5451344" y="6924340"/>
                </a:lnTo>
                <a:lnTo>
                  <a:pt x="0" y="69243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78324">
            <a:off x="-97597" y="-78725"/>
            <a:ext cx="1643016" cy="2214850"/>
          </a:xfrm>
          <a:custGeom>
            <a:avLst/>
            <a:gdLst/>
            <a:ahLst/>
            <a:cxnLst/>
            <a:rect r="r" b="b" t="t" l="l"/>
            <a:pathLst>
              <a:path h="2214850" w="1643016">
                <a:moveTo>
                  <a:pt x="0" y="0"/>
                </a:moveTo>
                <a:lnTo>
                  <a:pt x="1643016" y="0"/>
                </a:lnTo>
                <a:lnTo>
                  <a:pt x="1643016" y="2214850"/>
                </a:lnTo>
                <a:lnTo>
                  <a:pt x="0" y="2214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85546" y="8918520"/>
            <a:ext cx="1618914" cy="1618914"/>
          </a:xfrm>
          <a:custGeom>
            <a:avLst/>
            <a:gdLst/>
            <a:ahLst/>
            <a:cxnLst/>
            <a:rect r="r" b="b" t="t" l="l"/>
            <a:pathLst>
              <a:path h="1618914" w="1618914">
                <a:moveTo>
                  <a:pt x="0" y="0"/>
                </a:moveTo>
                <a:lnTo>
                  <a:pt x="1618914" y="0"/>
                </a:lnTo>
                <a:lnTo>
                  <a:pt x="1618914" y="1618915"/>
                </a:lnTo>
                <a:lnTo>
                  <a:pt x="0" y="161891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463619" y="2685075"/>
            <a:ext cx="9360761" cy="15522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51"/>
              </a:lnSpc>
            </a:pPr>
            <a:r>
              <a:rPr lang="en-US" sz="10209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COLEGIO CERAVOLO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28534" y="3996781"/>
            <a:ext cx="7430931" cy="101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8"/>
              </a:lnSpc>
            </a:pPr>
            <a:r>
              <a:rPr lang="en-US" sz="6240">
                <a:solidFill>
                  <a:srgbClr val="000000"/>
                </a:solidFill>
                <a:latin typeface="True Typewriter"/>
                <a:ea typeface="True Typewriter"/>
                <a:cs typeface="True Typewriter"/>
                <a:sym typeface="True Typewriter"/>
              </a:rPr>
              <a:t>ADEMAR JESUS DA SILVA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9320429">
            <a:off x="16968782" y="-369402"/>
            <a:ext cx="1643016" cy="2214850"/>
          </a:xfrm>
          <a:custGeom>
            <a:avLst/>
            <a:gdLst/>
            <a:ahLst/>
            <a:cxnLst/>
            <a:rect r="r" b="b" t="t" l="l"/>
            <a:pathLst>
              <a:path h="2214850" w="1643016">
                <a:moveTo>
                  <a:pt x="0" y="0"/>
                </a:moveTo>
                <a:lnTo>
                  <a:pt x="1643017" y="0"/>
                </a:lnTo>
                <a:lnTo>
                  <a:pt x="1643017" y="2214850"/>
                </a:lnTo>
                <a:lnTo>
                  <a:pt x="0" y="22148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70577" y="5126990"/>
            <a:ext cx="6746845" cy="6464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4"/>
              </a:lnSpc>
            </a:pPr>
            <a:r>
              <a:rPr lang="en-US" sz="4195">
                <a:solidFill>
                  <a:srgbClr val="000000"/>
                </a:solidFill>
                <a:latin typeface="Courier Prime"/>
                <a:ea typeface="Courier Prime"/>
                <a:cs typeface="Courier Prime"/>
                <a:sym typeface="Courier Prime"/>
              </a:rPr>
              <a:t>INOVAÇÃO E TECNOLOGIA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614011" y="5687733"/>
            <a:ext cx="9059978" cy="1039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3"/>
              </a:lnSpc>
            </a:pPr>
            <a:r>
              <a:rPr lang="en-US" sz="6286">
                <a:solidFill>
                  <a:srgbClr val="000000"/>
                </a:solidFill>
                <a:latin typeface="True Typewriter"/>
                <a:ea typeface="True Typewriter"/>
                <a:cs typeface="True Typewriter"/>
                <a:sym typeface="True Typewriter"/>
              </a:rPr>
              <a:t>PROF. IVANETE A. MAURICIO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614011" y="6852034"/>
            <a:ext cx="7286135" cy="749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3"/>
              </a:lnSpc>
            </a:pPr>
            <a:r>
              <a:rPr lang="en-US" sz="4969">
                <a:solidFill>
                  <a:srgbClr val="000000"/>
                </a:solidFill>
                <a:latin typeface="Lumios Typewriter New"/>
                <a:ea typeface="Lumios Typewriter New"/>
                <a:cs typeface="Lumios Typewriter New"/>
                <a:sym typeface="Lumios Typewriter New"/>
              </a:rPr>
              <a:t>05/10/2026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783453"/>
            <a:ext cx="4072789" cy="6942441"/>
            <a:chOff x="0" y="0"/>
            <a:chExt cx="47683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7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476830">
                  <a:moveTo>
                    <a:pt x="0" y="0"/>
                  </a:moveTo>
                  <a:lnTo>
                    <a:pt x="476830" y="0"/>
                  </a:lnTo>
                  <a:lnTo>
                    <a:pt x="47683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6819" t="0" r="-6819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13186511" y="2315859"/>
            <a:ext cx="4072789" cy="6942441"/>
            <a:chOff x="0" y="0"/>
            <a:chExt cx="47683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76830" cy="812800"/>
            </a:xfrm>
            <a:custGeom>
              <a:avLst/>
              <a:gdLst/>
              <a:ahLst/>
              <a:cxnLst/>
              <a:rect r="r" b="b" t="t" l="l"/>
              <a:pathLst>
                <a:path h="812800" w="476830">
                  <a:moveTo>
                    <a:pt x="0" y="0"/>
                  </a:moveTo>
                  <a:lnTo>
                    <a:pt x="476830" y="0"/>
                  </a:lnTo>
                  <a:lnTo>
                    <a:pt x="47683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3"/>
              <a:stretch>
                <a:fillRect l="-6871" t="0" r="-6871" b="0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678324">
            <a:off x="12980589" y="8469842"/>
            <a:ext cx="774837" cy="1044510"/>
          </a:xfrm>
          <a:custGeom>
            <a:avLst/>
            <a:gdLst/>
            <a:ahLst/>
            <a:cxnLst/>
            <a:rect r="r" b="b" t="t" l="l"/>
            <a:pathLst>
              <a:path h="1044510" w="774837">
                <a:moveTo>
                  <a:pt x="0" y="0"/>
                </a:moveTo>
                <a:lnTo>
                  <a:pt x="774837" y="0"/>
                </a:lnTo>
                <a:lnTo>
                  <a:pt x="774837" y="1044510"/>
                </a:lnTo>
                <a:lnTo>
                  <a:pt x="0" y="10445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7009896" y="2049656"/>
            <a:ext cx="498808" cy="849363"/>
          </a:xfrm>
          <a:custGeom>
            <a:avLst/>
            <a:gdLst/>
            <a:ahLst/>
            <a:cxnLst/>
            <a:rect r="r" b="b" t="t" l="l"/>
            <a:pathLst>
              <a:path h="849363" w="498808">
                <a:moveTo>
                  <a:pt x="0" y="0"/>
                </a:moveTo>
                <a:lnTo>
                  <a:pt x="498808" y="0"/>
                </a:lnTo>
                <a:lnTo>
                  <a:pt x="498808" y="849364"/>
                </a:lnTo>
                <a:lnTo>
                  <a:pt x="0" y="8493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28700" y="8459691"/>
            <a:ext cx="532406" cy="532406"/>
          </a:xfrm>
          <a:custGeom>
            <a:avLst/>
            <a:gdLst/>
            <a:ahLst/>
            <a:cxnLst/>
            <a:rect r="r" b="b" t="t" l="l"/>
            <a:pathLst>
              <a:path h="532406" w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44272" y="8459691"/>
            <a:ext cx="532406" cy="532406"/>
          </a:xfrm>
          <a:custGeom>
            <a:avLst/>
            <a:gdLst/>
            <a:ahLst/>
            <a:cxnLst/>
            <a:rect r="r" b="b" t="t" l="l"/>
            <a:pathLst>
              <a:path h="532406" w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59844" y="8459691"/>
            <a:ext cx="532406" cy="532406"/>
          </a:xfrm>
          <a:custGeom>
            <a:avLst/>
            <a:gdLst/>
            <a:ahLst/>
            <a:cxnLst/>
            <a:rect r="r" b="b" t="t" l="l"/>
            <a:pathLst>
              <a:path h="532406" w="532406">
                <a:moveTo>
                  <a:pt x="0" y="0"/>
                </a:moveTo>
                <a:lnTo>
                  <a:pt x="532406" y="0"/>
                </a:lnTo>
                <a:lnTo>
                  <a:pt x="532406" y="532406"/>
                </a:lnTo>
                <a:lnTo>
                  <a:pt x="0" y="532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976027" y="1912579"/>
            <a:ext cx="6335946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DISRUPTURA</a:t>
            </a:r>
          </a:p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TECNOLOGICA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383709" y="4809596"/>
            <a:ext cx="7520583" cy="2968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1"/>
              </a:lnSpc>
            </a:pPr>
            <a:r>
              <a:rPr lang="en-US" sz="21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É u</a:t>
            </a:r>
            <a:r>
              <a:rPr lang="en-US" sz="21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ma inovação que transforma ou substitui um mercado já existente.</a:t>
            </a:r>
          </a:p>
          <a:p>
            <a:pPr algn="l">
              <a:lnSpc>
                <a:spcPts val="2991"/>
              </a:lnSpc>
            </a:pPr>
            <a:r>
              <a:rPr lang="en-US" sz="21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Não é apenas melhorar um produto, mas criar algo totalmente novo.</a:t>
            </a:r>
          </a:p>
          <a:p>
            <a:pPr algn="l">
              <a:lnSpc>
                <a:spcPts val="2991"/>
              </a:lnSpc>
            </a:pPr>
            <a:r>
              <a:rPr lang="en-US" sz="21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Modifica a forma como a sociedade consome e trabalha.</a:t>
            </a:r>
          </a:p>
          <a:p>
            <a:pPr algn="l">
              <a:lnSpc>
                <a:spcPts val="2991"/>
              </a:lnSpc>
            </a:pPr>
            <a:r>
              <a:rPr lang="en-US" sz="21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Torna soluções antigas obsoletas em pouco tempo.</a:t>
            </a:r>
          </a:p>
          <a:p>
            <a:pPr algn="l">
              <a:lnSpc>
                <a:spcPts val="2991"/>
              </a:lnSpc>
            </a:pPr>
            <a:r>
              <a:rPr lang="en-US" sz="2136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Exemplos: O streaming de vídeo e os smartphones.</a:t>
            </a:r>
          </a:p>
          <a:p>
            <a:pPr algn="l">
              <a:lnSpc>
                <a:spcPts val="2991"/>
              </a:lnSpc>
            </a:pP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3137939" y="1517251"/>
            <a:ext cx="532406" cy="532406"/>
          </a:xfrm>
          <a:custGeom>
            <a:avLst/>
            <a:gdLst/>
            <a:ahLst/>
            <a:cxnLst/>
            <a:rect r="r" b="b" t="t" l="l"/>
            <a:pathLst>
              <a:path h="532406" w="532406">
                <a:moveTo>
                  <a:pt x="0" y="0"/>
                </a:moveTo>
                <a:lnTo>
                  <a:pt x="532406" y="0"/>
                </a:lnTo>
                <a:lnTo>
                  <a:pt x="532406" y="532405"/>
                </a:lnTo>
                <a:lnTo>
                  <a:pt x="0" y="532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853511" y="1517251"/>
            <a:ext cx="532406" cy="532406"/>
          </a:xfrm>
          <a:custGeom>
            <a:avLst/>
            <a:gdLst/>
            <a:ahLst/>
            <a:cxnLst/>
            <a:rect r="r" b="b" t="t" l="l"/>
            <a:pathLst>
              <a:path h="532406" w="532406">
                <a:moveTo>
                  <a:pt x="0" y="0"/>
                </a:moveTo>
                <a:lnTo>
                  <a:pt x="532406" y="0"/>
                </a:lnTo>
                <a:lnTo>
                  <a:pt x="532406" y="532405"/>
                </a:lnTo>
                <a:lnTo>
                  <a:pt x="0" y="532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69083" y="1517251"/>
            <a:ext cx="532406" cy="532406"/>
          </a:xfrm>
          <a:custGeom>
            <a:avLst/>
            <a:gdLst/>
            <a:ahLst/>
            <a:cxnLst/>
            <a:rect r="r" b="b" t="t" l="l"/>
            <a:pathLst>
              <a:path h="532406" w="532406">
                <a:moveTo>
                  <a:pt x="0" y="0"/>
                </a:moveTo>
                <a:lnTo>
                  <a:pt x="532406" y="0"/>
                </a:lnTo>
                <a:lnTo>
                  <a:pt x="532406" y="532405"/>
                </a:lnTo>
                <a:lnTo>
                  <a:pt x="0" y="5324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41890" y="1339918"/>
            <a:ext cx="9004219" cy="121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COMO ELA ACONTECE?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059506" y="3965688"/>
            <a:ext cx="12168988" cy="4408365"/>
            <a:chOff x="0" y="0"/>
            <a:chExt cx="16225317" cy="5877819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6225317" cy="5877819"/>
              <a:chOff x="0" y="0"/>
              <a:chExt cx="2286927" cy="828467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2286927" cy="828467"/>
              </a:xfrm>
              <a:custGeom>
                <a:avLst/>
                <a:gdLst/>
                <a:ahLst/>
                <a:cxnLst/>
                <a:rect r="r" b="b" t="t" l="l"/>
                <a:pathLst>
                  <a:path h="828467" w="2286927">
                    <a:moveTo>
                      <a:pt x="0" y="0"/>
                    </a:moveTo>
                    <a:lnTo>
                      <a:pt x="2286927" y="0"/>
                    </a:lnTo>
                    <a:lnTo>
                      <a:pt x="2286927" y="828467"/>
                    </a:lnTo>
                    <a:lnTo>
                      <a:pt x="0" y="828467"/>
                    </a:lnTo>
                    <a:close/>
                  </a:path>
                </a:pathLst>
              </a:custGeom>
              <a:solidFill>
                <a:srgbClr val="F7F7F0"/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28575"/>
                <a:ext cx="2286927" cy="857042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09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1060169" y="1476518"/>
              <a:ext cx="14104979" cy="37661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779"/>
                </a:lnSpc>
              </a:pPr>
              <a:r>
                <a:rPr lang="en-US" sz="2699" b="true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Geralmente começa com um produto mais simples e barato.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b="true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Atende a um público que er</a:t>
              </a:r>
              <a:r>
                <a:rPr lang="en-US" sz="2699" b="true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ignorado pelas grandes empresas.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b="true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 tecnologia evolui rapidamente e ganha alta qualidade.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b="true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Conquista a maioria dos consumidores tradicionais.</a:t>
              </a:r>
            </a:p>
            <a:p>
              <a:pPr algn="ctr">
                <a:lnSpc>
                  <a:spcPts val="3779"/>
                </a:lnSpc>
              </a:pPr>
              <a:r>
                <a:rPr lang="en-US" sz="2699" b="true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As empresas antigas que não se adaptam acabam fechando.</a:t>
              </a:r>
            </a:p>
            <a:p>
              <a:pPr algn="ctr">
                <a:lnSpc>
                  <a:spcPts val="377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31991" y="1096659"/>
            <a:ext cx="12824018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EXEMPLOS PRÁTICOS NO DIA A DIA</a:t>
            </a:r>
          </a:p>
          <a:p>
            <a:pPr algn="l">
              <a:lnSpc>
                <a:spcPts val="960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9569416"/>
            <a:ext cx="717584" cy="717584"/>
          </a:xfrm>
          <a:custGeom>
            <a:avLst/>
            <a:gdLst/>
            <a:ahLst/>
            <a:cxnLst/>
            <a:rect r="r" b="b" t="t" l="l"/>
            <a:pathLst>
              <a:path h="717584" w="717584">
                <a:moveTo>
                  <a:pt x="0" y="0"/>
                </a:moveTo>
                <a:lnTo>
                  <a:pt x="717584" y="0"/>
                </a:lnTo>
                <a:lnTo>
                  <a:pt x="717584" y="717584"/>
                </a:lnTo>
                <a:lnTo>
                  <a:pt x="0" y="71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64458" y="9569416"/>
            <a:ext cx="717584" cy="717584"/>
          </a:xfrm>
          <a:custGeom>
            <a:avLst/>
            <a:gdLst/>
            <a:ahLst/>
            <a:cxnLst/>
            <a:rect r="r" b="b" t="t" l="l"/>
            <a:pathLst>
              <a:path h="717584" w="717584">
                <a:moveTo>
                  <a:pt x="0" y="0"/>
                </a:moveTo>
                <a:lnTo>
                  <a:pt x="717584" y="0"/>
                </a:lnTo>
                <a:lnTo>
                  <a:pt x="717584" y="717584"/>
                </a:lnTo>
                <a:lnTo>
                  <a:pt x="0" y="71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928915" y="9569416"/>
            <a:ext cx="717584" cy="717584"/>
          </a:xfrm>
          <a:custGeom>
            <a:avLst/>
            <a:gdLst/>
            <a:ahLst/>
            <a:cxnLst/>
            <a:rect r="r" b="b" t="t" l="l"/>
            <a:pathLst>
              <a:path h="717584" w="717584">
                <a:moveTo>
                  <a:pt x="0" y="0"/>
                </a:moveTo>
                <a:lnTo>
                  <a:pt x="717584" y="0"/>
                </a:lnTo>
                <a:lnTo>
                  <a:pt x="717584" y="717584"/>
                </a:lnTo>
                <a:lnTo>
                  <a:pt x="0" y="71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437526" y="2811334"/>
            <a:ext cx="9412947" cy="1447451"/>
            <a:chOff x="0" y="0"/>
            <a:chExt cx="12550597" cy="19299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895797"/>
              <a:ext cx="1034138" cy="1034138"/>
            </a:xfrm>
            <a:custGeom>
              <a:avLst/>
              <a:gdLst/>
              <a:ahLst/>
              <a:cxnLst/>
              <a:rect r="r" b="b" t="t" l="l"/>
              <a:pathLst>
                <a:path h="1034138" w="1034138">
                  <a:moveTo>
                    <a:pt x="0" y="0"/>
                  </a:moveTo>
                  <a:lnTo>
                    <a:pt x="1034138" y="0"/>
                  </a:lnTo>
                  <a:lnTo>
                    <a:pt x="1034138" y="1034138"/>
                  </a:lnTo>
                  <a:lnTo>
                    <a:pt x="0" y="1034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 rot="0">
              <a:off x="1844136" y="1035290"/>
              <a:ext cx="10706460" cy="569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1"/>
                </a:lnSpc>
              </a:pPr>
              <a:r>
                <a:rPr lang="en-US" sz="26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Acabo</a:t>
              </a:r>
              <a:r>
                <a:rPr lang="en-US" sz="26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 com as locadoras físicas de filmes.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1844136" y="-57150"/>
              <a:ext cx="10706460" cy="67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2"/>
                </a:lnSpc>
              </a:pPr>
              <a:r>
                <a:rPr lang="en-US" sz="3059" b="true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Netflix: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437526" y="4258785"/>
            <a:ext cx="9412947" cy="1447451"/>
            <a:chOff x="0" y="0"/>
            <a:chExt cx="12550597" cy="192993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895797"/>
              <a:ext cx="1034138" cy="1034138"/>
            </a:xfrm>
            <a:custGeom>
              <a:avLst/>
              <a:gdLst/>
              <a:ahLst/>
              <a:cxnLst/>
              <a:rect r="r" b="b" t="t" l="l"/>
              <a:pathLst>
                <a:path h="1034138" w="1034138">
                  <a:moveTo>
                    <a:pt x="0" y="0"/>
                  </a:moveTo>
                  <a:lnTo>
                    <a:pt x="1034138" y="0"/>
                  </a:lnTo>
                  <a:lnTo>
                    <a:pt x="1034138" y="1034138"/>
                  </a:lnTo>
                  <a:lnTo>
                    <a:pt x="0" y="1034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 rot="0">
              <a:off x="1844136" y="1035290"/>
              <a:ext cx="10706460" cy="569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1"/>
                </a:lnSpc>
              </a:pPr>
              <a:r>
                <a:rPr lang="en-US" sz="26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Redefinira</a:t>
              </a:r>
              <a:r>
                <a:rPr lang="en-US" sz="26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 a mobilidade urbana global.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844136" y="-57150"/>
              <a:ext cx="10706460" cy="67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2"/>
                </a:lnSpc>
              </a:pPr>
              <a:r>
                <a:rPr lang="en-US" sz="3059" b="true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Uber / 99: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4437526" y="5706236"/>
            <a:ext cx="9412947" cy="1447451"/>
            <a:chOff x="0" y="0"/>
            <a:chExt cx="12550597" cy="192993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895797"/>
              <a:ext cx="1034138" cy="1034138"/>
            </a:xfrm>
            <a:custGeom>
              <a:avLst/>
              <a:gdLst/>
              <a:ahLst/>
              <a:cxnLst/>
              <a:rect r="r" b="b" t="t" l="l"/>
              <a:pathLst>
                <a:path h="1034138" w="1034138">
                  <a:moveTo>
                    <a:pt x="0" y="0"/>
                  </a:moveTo>
                  <a:lnTo>
                    <a:pt x="1034138" y="0"/>
                  </a:lnTo>
                  <a:lnTo>
                    <a:pt x="1034138" y="1034138"/>
                  </a:lnTo>
                  <a:lnTo>
                    <a:pt x="0" y="1034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844136" y="1035290"/>
              <a:ext cx="10706460" cy="569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1"/>
                </a:lnSpc>
              </a:pPr>
              <a:r>
                <a:rPr lang="en-US" sz="26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Transformo</a:t>
              </a:r>
              <a:r>
                <a:rPr lang="en-US" sz="26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 a relação com os bancos tradicionais.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1844136" y="-57150"/>
              <a:ext cx="10706460" cy="67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2"/>
                </a:lnSpc>
              </a:pPr>
              <a:r>
                <a:rPr lang="en-US" sz="3059" b="true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Nubank: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437526" y="7278443"/>
            <a:ext cx="9412947" cy="1447451"/>
            <a:chOff x="0" y="0"/>
            <a:chExt cx="12550597" cy="19299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895797"/>
              <a:ext cx="1034138" cy="1034138"/>
            </a:xfrm>
            <a:custGeom>
              <a:avLst/>
              <a:gdLst/>
              <a:ahLst/>
              <a:cxnLst/>
              <a:rect r="r" b="b" t="t" l="l"/>
              <a:pathLst>
                <a:path h="1034138" w="1034138">
                  <a:moveTo>
                    <a:pt x="0" y="0"/>
                  </a:moveTo>
                  <a:lnTo>
                    <a:pt x="1034138" y="0"/>
                  </a:lnTo>
                  <a:lnTo>
                    <a:pt x="1034138" y="1034138"/>
                  </a:lnTo>
                  <a:lnTo>
                    <a:pt x="0" y="1034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 rot="0">
              <a:off x="1844136" y="1035290"/>
              <a:ext cx="10706460" cy="569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671"/>
                </a:lnSpc>
              </a:pPr>
              <a:r>
                <a:rPr lang="en-US" sz="26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Substit</a:t>
              </a:r>
              <a:r>
                <a:rPr lang="en-US" sz="2622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uiu as mensagens SMS e ligações pagas.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1844136" y="-57150"/>
              <a:ext cx="10706460" cy="67509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282"/>
                </a:lnSpc>
              </a:pPr>
              <a:r>
                <a:rPr lang="en-US" sz="3059" b="true">
                  <a:solidFill>
                    <a:srgbClr val="000000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WhatsApp: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640725" y="0"/>
            <a:ext cx="717584" cy="717584"/>
          </a:xfrm>
          <a:custGeom>
            <a:avLst/>
            <a:gdLst/>
            <a:ahLst/>
            <a:cxnLst/>
            <a:rect r="r" b="b" t="t" l="l"/>
            <a:pathLst>
              <a:path h="717584" w="717584">
                <a:moveTo>
                  <a:pt x="0" y="0"/>
                </a:moveTo>
                <a:lnTo>
                  <a:pt x="717583" y="0"/>
                </a:lnTo>
                <a:lnTo>
                  <a:pt x="717583" y="717584"/>
                </a:lnTo>
                <a:lnTo>
                  <a:pt x="0" y="71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6605570" y="0"/>
            <a:ext cx="717584" cy="717584"/>
          </a:xfrm>
          <a:custGeom>
            <a:avLst/>
            <a:gdLst/>
            <a:ahLst/>
            <a:cxnLst/>
            <a:rect r="r" b="b" t="t" l="l"/>
            <a:pathLst>
              <a:path h="717584" w="717584">
                <a:moveTo>
                  <a:pt x="0" y="0"/>
                </a:moveTo>
                <a:lnTo>
                  <a:pt x="717584" y="0"/>
                </a:lnTo>
                <a:lnTo>
                  <a:pt x="717584" y="717584"/>
                </a:lnTo>
                <a:lnTo>
                  <a:pt x="0" y="71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7570416" y="0"/>
            <a:ext cx="717584" cy="717584"/>
          </a:xfrm>
          <a:custGeom>
            <a:avLst/>
            <a:gdLst/>
            <a:ahLst/>
            <a:cxnLst/>
            <a:rect r="r" b="b" t="t" l="l"/>
            <a:pathLst>
              <a:path h="717584" w="717584">
                <a:moveTo>
                  <a:pt x="0" y="0"/>
                </a:moveTo>
                <a:lnTo>
                  <a:pt x="717584" y="0"/>
                </a:lnTo>
                <a:lnTo>
                  <a:pt x="717584" y="717584"/>
                </a:lnTo>
                <a:lnTo>
                  <a:pt x="0" y="7175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9202" y="5839455"/>
            <a:ext cx="8298136" cy="3254632"/>
            <a:chOff x="0" y="0"/>
            <a:chExt cx="1054463" cy="41357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4463" cy="413573"/>
            </a:xfrm>
            <a:custGeom>
              <a:avLst/>
              <a:gdLst/>
              <a:ahLst/>
              <a:cxnLst/>
              <a:rect r="r" b="b" t="t" l="l"/>
              <a:pathLst>
                <a:path h="413573" w="1054463">
                  <a:moveTo>
                    <a:pt x="0" y="0"/>
                  </a:moveTo>
                  <a:lnTo>
                    <a:pt x="1054463" y="0"/>
                  </a:lnTo>
                  <a:lnTo>
                    <a:pt x="1054463" y="413573"/>
                  </a:lnTo>
                  <a:lnTo>
                    <a:pt x="0" y="413573"/>
                  </a:lnTo>
                  <a:close/>
                </a:path>
              </a:pathLst>
            </a:custGeom>
            <a:blipFill>
              <a:blip r:embed="rId2"/>
              <a:stretch>
                <a:fillRect l="0" t="-35065" r="0" b="-35065"/>
              </a:stretch>
            </a:blipFill>
            <a:ln w="38100" cap="sq">
              <a:solidFill>
                <a:srgbClr val="000000"/>
              </a:solidFill>
              <a:prstDash val="solid"/>
              <a:miter/>
            </a:ln>
          </p:spPr>
        </p:sp>
      </p:grpSp>
      <p:sp>
        <p:nvSpPr>
          <p:cNvPr name="Freeform 4" id="4"/>
          <p:cNvSpPr/>
          <p:nvPr/>
        </p:nvSpPr>
        <p:spPr>
          <a:xfrm flipH="false" flipV="false" rot="678324">
            <a:off x="741084" y="8358551"/>
            <a:ext cx="713889" cy="962351"/>
          </a:xfrm>
          <a:custGeom>
            <a:avLst/>
            <a:gdLst/>
            <a:ahLst/>
            <a:cxnLst/>
            <a:rect r="r" b="b" t="t" l="l"/>
            <a:pathLst>
              <a:path h="962351" w="713889">
                <a:moveTo>
                  <a:pt x="0" y="0"/>
                </a:moveTo>
                <a:lnTo>
                  <a:pt x="713889" y="0"/>
                </a:lnTo>
                <a:lnTo>
                  <a:pt x="713889" y="962350"/>
                </a:lnTo>
                <a:lnTo>
                  <a:pt x="0" y="9623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006052" y="5727072"/>
            <a:ext cx="459573" cy="782554"/>
          </a:xfrm>
          <a:custGeom>
            <a:avLst/>
            <a:gdLst/>
            <a:ahLst/>
            <a:cxnLst/>
            <a:rect r="r" b="b" t="t" l="l"/>
            <a:pathLst>
              <a:path h="782554" w="459573">
                <a:moveTo>
                  <a:pt x="0" y="0"/>
                </a:moveTo>
                <a:lnTo>
                  <a:pt x="459573" y="0"/>
                </a:lnTo>
                <a:lnTo>
                  <a:pt x="459573" y="782554"/>
                </a:lnTo>
                <a:lnTo>
                  <a:pt x="0" y="7825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135964" y="2317122"/>
            <a:ext cx="7510658" cy="2438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>
                <a:solidFill>
                  <a:srgbClr val="000000"/>
                </a:solidFill>
                <a:latin typeface="Anton"/>
                <a:ea typeface="Anton"/>
                <a:cs typeface="Anton"/>
                <a:sym typeface="Anton"/>
              </a:rPr>
              <a:t>O IMPACTO NO MERCADO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646621" y="2414698"/>
            <a:ext cx="8319473" cy="2495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2"/>
              </a:lnSpc>
            </a:pPr>
            <a:r>
              <a:rPr lang="en-US" sz="239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Força as empresas a inovar</a:t>
            </a:r>
            <a:r>
              <a:rPr lang="en-US" sz="239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em constantemente.</a:t>
            </a:r>
          </a:p>
          <a:p>
            <a:pPr algn="l">
              <a:lnSpc>
                <a:spcPts val="3352"/>
              </a:lnSpc>
            </a:pPr>
            <a:r>
              <a:rPr lang="en-US" sz="239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Cria novas profissões e extingue cargos antigos.</a:t>
            </a:r>
          </a:p>
          <a:p>
            <a:pPr algn="l">
              <a:lnSpc>
                <a:spcPts val="3352"/>
              </a:lnSpc>
            </a:pPr>
            <a:r>
              <a:rPr lang="en-US" sz="239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Reduz custos e facilita o acesso para o consumidor.</a:t>
            </a:r>
          </a:p>
          <a:p>
            <a:pPr algn="l">
              <a:lnSpc>
                <a:spcPts val="3352"/>
              </a:lnSpc>
            </a:pPr>
            <a:r>
              <a:rPr lang="en-US" sz="239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Exige agilidade e adaptação dos profissionais.</a:t>
            </a:r>
          </a:p>
          <a:p>
            <a:pPr algn="l">
              <a:lnSpc>
                <a:spcPts val="3352"/>
              </a:lnSpc>
            </a:pPr>
            <a:r>
              <a:rPr lang="en-US" sz="2394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Quem domina a nova tecnologia dita as regras do futuro.</a:t>
            </a:r>
          </a:p>
          <a:p>
            <a:pPr algn="l">
              <a:lnSpc>
                <a:spcPts val="3352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DAHXJT0G8FI</dc:identifier>
  <dcterms:modified xsi:type="dcterms:W3CDTF">2011-08-01T06:04:30Z</dcterms:modified>
  <cp:revision>1</cp:revision>
  <dc:title>Apresentação sobre Disruptura Tecnologica</dc:title>
</cp:coreProperties>
</file>